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numFmt formatCode="&quot;₹&quot;#,##0,,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227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EF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1d29dbb-616e-4518-8abd-fa93f2a9d64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numFmt formatCode="&quot;₹&quot;#,##0,,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227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  <c:pt idx="5">
                  <c:v>Shoes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25443008.51</c:v>
                </c:pt>
                <c:pt idx="1">
                  <c:v>25335573.19</c:v>
                </c:pt>
                <c:pt idx="2">
                  <c:v>25031689.4</c:v>
                </c:pt>
                <c:pt idx="3">
                  <c:v>22231711.28</c:v>
                </c:pt>
                <c:pt idx="4">
                  <c:v>21521561.48</c:v>
                </c:pt>
                <c:pt idx="5">
                  <c:v>19835895.79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EF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a8b709e1-317b-4ba4-abba-75d10185ab93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41B49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41B49"/>
                </a:solidFill>
                <a:latin typeface="Arial" panose="020B0604020202020204"/>
              </a:rPr>
              <a:t>Sales by Age Group</a:t>
            </a:r>
            <a:endParaRPr sz="1300" b="0" i="0" u="none" strike="noStrike">
              <a:solidFill>
                <a:srgbClr val="141B49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22284096.94</c:v>
                </c:pt>
                <c:pt idx="1">
                  <c:v>29632336.96</c:v>
                </c:pt>
                <c:pt idx="2">
                  <c:v>31533245.71</c:v>
                </c:pt>
                <c:pt idx="3">
                  <c:v>28216508.63</c:v>
                </c:pt>
                <c:pt idx="4">
                  <c:v>27733251.41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EF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6ccbd31-4029-4d30-8aaf-6158aa112a5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41B49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41B49"/>
                </a:solidFill>
                <a:latin typeface="Arial" panose="020B0604020202020204"/>
              </a:rPr>
              <a:t>Sales by Gender</a:t>
            </a:r>
            <a:endParaRPr sz="1300" b="0" i="0" u="none" strike="noStrike">
              <a:solidFill>
                <a:srgbClr val="141B49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8DD"/>
              </a:solidFill>
              <a:effectLst/>
            </c:spPr>
          </c:dPt>
          <c:dLbls>
            <c:numFmt formatCode="&quot;₹&quot;#,##0,,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22273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72463550.63</c:v>
                </c:pt>
                <c:pt idx="1">
                  <c:v>66935889.02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36be696-df3c-44a9-882f-a13f7acfdd40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Patna</c:v>
                </c:pt>
                <c:pt idx="1">
                  <c:v>Kolkata</c:v>
                </c:pt>
                <c:pt idx="2">
                  <c:v>Bengaluru</c:v>
                </c:pt>
                <c:pt idx="3">
                  <c:v>Mumbai</c:v>
                </c:pt>
                <c:pt idx="4">
                  <c:v>Hyderabad</c:v>
                </c:pt>
                <c:pt idx="5">
                  <c:v>Delhi</c:v>
                </c:pt>
                <c:pt idx="6">
                  <c:v>Pune</c:v>
                </c:pt>
                <c:pt idx="7">
                  <c:v>Gaya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19285966.89</c:v>
                </c:pt>
                <c:pt idx="1">
                  <c:v>18884349.57</c:v>
                </c:pt>
                <c:pt idx="2">
                  <c:v>18773574.32</c:v>
                </c:pt>
                <c:pt idx="3">
                  <c:v>18757050.17</c:v>
                </c:pt>
                <c:pt idx="4">
                  <c:v>17166766.87</c:v>
                </c:pt>
                <c:pt idx="5">
                  <c:v>16097079</c:v>
                </c:pt>
                <c:pt idx="6">
                  <c:v>14513175.9</c:v>
                </c:pt>
                <c:pt idx="7">
                  <c:v>14380859.39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EF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3199b5c-7912-4b9f-be39-0ff87f4fc727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(₹)</c:v>
                </c:pt>
              </c:strCache>
            </c:strRef>
          </c:tx>
          <c:spPr>
            <a:ln w="38100" cap="flat" cmpd="sng" algn="ctr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33D"/>
              </a:solidFill>
              <a:ln w="9525" cap="flat" cmpd="sng" algn="ctr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10905580.72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11746226.8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8DEF7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22273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 cmpd="sng" algn="ctr">
              <a:solidFill>
                <a:srgbClr val="EEF1F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edb1646-d10f-4d8e-b16e-86a5306816c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0607040" y="4206240"/>
            <a:ext cx="1280160" cy="128016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5" name="Text 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04  ·  FINAL SUBMISSION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91440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Storytelling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Statistical Validation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E-Commerce Customer Analytics — Turning Four Tasks of Analysis into One Business Story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by  </a:t>
            </a: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Sunita Satpathy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 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— Data Analytics Internship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Data to a Validated Business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1264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goal of Task 4 is to synthesize everything built across Tasks 1–3 — a cleaned dataset, exploratory insights, and an interactive KPI dashboard — into one coherent business narrative, and to statistically validate a key observation before it informs decisions.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6126480" cy="2468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 purchasing behaviour, product performance and sales patterns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the findings as a structured, stakeholder-ready narrative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whether the male vs. female sales gap is real or random noise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the validated insight into an actionable recommendation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78040" y="1691640"/>
            <a:ext cx="4389120" cy="4389120"/>
          </a:xfrm>
          <a:prstGeom prst="roundRect">
            <a:avLst>
              <a:gd name="adj" fmla="val 2500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7498080" y="19659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IN FOCUS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2331720"/>
            <a:ext cx="3749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E-Commerce Customer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0" y="3337560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69680" y="339242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 Recorded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0" y="3959352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869680" y="401421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Orders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0" y="4581144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947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0" y="463600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5202936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69680" y="52578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Analysis-Ready Columns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JOURNEY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Tasks, One Continuous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15184" cy="3794760"/>
          </a:xfrm>
          <a:prstGeom prst="roundRect">
            <a:avLst>
              <a:gd name="adj" fmla="val 3497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841248" y="2221992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41248" y="222199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92608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Wrangling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566160"/>
            <a:ext cx="2212848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 the e-commerce dataset (1,000 rows, 12 columns); imputed missing Age &amp; City values, validated sales calculations, built a data dictionary.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6432" y="1965960"/>
            <a:ext cx="2615184" cy="3794760"/>
          </a:xfrm>
          <a:prstGeom prst="roundRect">
            <a:avLst>
              <a:gd name="adj" fmla="val 3497"/>
            </a:avLst>
          </a:prstGeom>
          <a:solidFill>
            <a:srgbClr val="F4F6FC"/>
          </a:solidFill>
        </p:spPr>
      </p:sp>
      <p:sp>
        <p:nvSpPr>
          <p:cNvPr id="10" name="Shape 8"/>
          <p:cNvSpPr/>
          <p:nvPr/>
        </p:nvSpPr>
        <p:spPr>
          <a:xfrm>
            <a:off x="3657600" y="2221992"/>
            <a:ext cx="548640" cy="548640"/>
          </a:xfrm>
          <a:prstGeom prst="ellipse">
            <a:avLst/>
          </a:prstGeom>
          <a:solidFill>
            <a:srgbClr val="35408A"/>
          </a:solidFill>
        </p:spPr>
      </p:sp>
      <p:sp>
        <p:nvSpPr>
          <p:cNvPr id="11" name="Text 9"/>
          <p:cNvSpPr/>
          <p:nvPr/>
        </p:nvSpPr>
        <p:spPr>
          <a:xfrm>
            <a:off x="3657600" y="222199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92608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&amp; BI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57600" y="3566160"/>
            <a:ext cx="2212848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Profiled the ApexPlanet e-commerce dataset; answered 7 SQL business questions; ran univariate &amp; correlation analysis.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965960"/>
            <a:ext cx="2615184" cy="3794760"/>
          </a:xfrm>
          <a:prstGeom prst="roundRect">
            <a:avLst>
              <a:gd name="adj" fmla="val 3497"/>
            </a:avLst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6473952" y="2221992"/>
            <a:ext cx="548640" cy="548640"/>
          </a:xfrm>
          <a:prstGeom prst="ellipse">
            <a:avLst/>
          </a:prstGeom>
          <a:solidFill>
            <a:srgbClr val="4E5FB4"/>
          </a:solidFill>
        </p:spPr>
      </p:sp>
      <p:sp>
        <p:nvSpPr>
          <p:cNvPr id="16" name="Text 14"/>
          <p:cNvSpPr/>
          <p:nvPr/>
        </p:nvSpPr>
        <p:spPr>
          <a:xfrm>
            <a:off x="6473952" y="222199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73952" y="292608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KPI Dashboard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73952" y="3566160"/>
            <a:ext cx="2212848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Defined 5 executive KPIs and built an interactive Power BI dashboard across 4 pages.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9136" y="1965960"/>
            <a:ext cx="2615184" cy="3794760"/>
          </a:xfrm>
          <a:prstGeom prst="roundRect">
            <a:avLst>
              <a:gd name="adj" fmla="val 3497"/>
            </a:avLst>
          </a:prstGeom>
          <a:solidFill>
            <a:srgbClr val="1E2761"/>
          </a:solidFill>
        </p:spPr>
      </p:sp>
      <p:sp>
        <p:nvSpPr>
          <p:cNvPr id="20" name="Shape 18"/>
          <p:cNvSpPr/>
          <p:nvPr/>
        </p:nvSpPr>
        <p:spPr>
          <a:xfrm>
            <a:off x="9290304" y="2221992"/>
            <a:ext cx="548640" cy="548640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1" name="Text 19"/>
          <p:cNvSpPr/>
          <p:nvPr/>
        </p:nvSpPr>
        <p:spPr>
          <a:xfrm>
            <a:off x="9290304" y="222199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0304" y="2926080"/>
            <a:ext cx="22128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Storytelling &amp; Validation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90304" y="3566160"/>
            <a:ext cx="2212848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EF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Synthesized insights into a business narrative and ran a hypothesis test to validate them.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90304" y="5303520"/>
            <a:ext cx="221284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ARE HERE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Performance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3317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₹13.94 Cr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" y="3246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3749040"/>
            <a:ext cx="2286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across all recorded transactions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56432" y="201168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23317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21024" y="3246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1024" y="3749040"/>
            <a:ext cx="2286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orders placed by 947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201168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23317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₹1,40,524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37376" y="3246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Order 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3749040"/>
            <a:ext cx="2286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revenue generated per order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9136" y="2011680"/>
            <a:ext cx="2615184" cy="3108960"/>
          </a:xfrm>
          <a:prstGeom prst="roundRect">
            <a:avLst>
              <a:gd name="adj" fmla="val 3497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23317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5.49%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253728" y="32461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Purchase Rate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728" y="3749040"/>
            <a:ext cx="2286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who ordered more than once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 alone doesn't tell us whether the business is improving — it must be read alongside trend, category and customer-level KPIs, which the following slides unpack.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Electronics Dominates Category Revenue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F4F6FC"/>
          </a:solidFill>
        </p:spPr>
      </p:sp>
      <p:sp>
        <p:nvSpPr>
          <p:cNvPr id="6" name="Text 3"/>
          <p:cNvSpPr/>
          <p:nvPr/>
        </p:nvSpPr>
        <p:spPr>
          <a:xfrm>
            <a:off x="7909560" y="196596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286000"/>
            <a:ext cx="3383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 generated ₹5.08 Cr — over 2x any other category — driven by Laptop and Mobile sales.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09560" y="3429000"/>
            <a:ext cx="3383280" cy="0"/>
          </a:xfrm>
          <a:prstGeom prst="line">
            <a:avLst/>
          </a:prstGeom>
          <a:noFill/>
          <a:ln w="12700">
            <a:solidFill>
              <a:srgbClr val="D8D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3611880"/>
            <a:ext cx="3383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Grocery has the highest average sale per transaction (₹1,45,305) despite lower total volume — a high-ticket, lower-frequency category.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09560" y="4800600"/>
            <a:ext cx="3383280" cy="0"/>
          </a:xfrm>
          <a:prstGeom prst="line">
            <a:avLst/>
          </a:prstGeom>
          <a:noFill/>
          <a:ln w="12700">
            <a:solidFill>
              <a:srgbClr val="D8DE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498348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is spread across 5 categories — no single point of failure for the business.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Leaders vs. Volume Leaders Differ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F4F6FC"/>
          </a:solidFill>
        </p:spPr>
      </p:sp>
      <p:sp>
        <p:nvSpPr>
          <p:cNvPr id="6" name="Text 3"/>
          <p:cNvSpPr/>
          <p:nvPr/>
        </p:nvSpPr>
        <p:spPr>
          <a:xfrm>
            <a:off x="7909560" y="1965960"/>
            <a:ext cx="3383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09560" y="2286000"/>
            <a:ext cx="33832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leads revenue (₹2.54 Cr) despite Mobile selling more units (1,008 vs 970) — Laptop's higher unit price makes it the bigger revenue driver.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09560" y="3749040"/>
            <a:ext cx="3383280" cy="0"/>
          </a:xfrm>
          <a:prstGeom prst="line">
            <a:avLst/>
          </a:prstGeom>
          <a:noFill/>
          <a:ln w="12700">
            <a:solidFill>
              <a:srgbClr val="D8D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3931920"/>
            <a:ext cx="338328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and sales volume don't always align — inventory strategy should balance both, not optimize for one alone.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SEGMENTATION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Working-Age Adults Drive the Business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57607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492240" y="1783080"/>
          <a:ext cx="5074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3794760"/>
            <a:ext cx="50749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</p:spPr>
      </p:sp>
      <p:sp>
        <p:nvSpPr>
          <p:cNvPr id="7" name="Text 3"/>
          <p:cNvSpPr/>
          <p:nvPr/>
        </p:nvSpPr>
        <p:spPr>
          <a:xfrm>
            <a:off x="6766560" y="3977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766560" y="4279392"/>
            <a:ext cx="45720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36–45 age group is the single highest-revenue segment. Male customers edge out female customers in total sales — but is that gap actually meaningful? We test that later in this deck.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GEOGRAPHIC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Revenue Spreads Across Eight Major Cities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73736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7373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4F6FC"/>
          </a:solidFill>
        </p:spPr>
      </p:sp>
      <p:sp>
        <p:nvSpPr>
          <p:cNvPr id="6" name="Text 3"/>
          <p:cNvSpPr/>
          <p:nvPr/>
        </p:nvSpPr>
        <p:spPr>
          <a:xfrm>
            <a:off x="8183880" y="19659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83880" y="2286000"/>
            <a:ext cx="31089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Patna leads city-wise revenue (₹1.93 Cr), closely followed by Kolkata, Bengaluru and Mumbai — a broad geographic base, not a single-market dependency.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183880" y="3840480"/>
            <a:ext cx="3108960" cy="0"/>
          </a:xfrm>
          <a:prstGeom prst="line">
            <a:avLst/>
          </a:prstGeom>
          <a:noFill/>
          <a:ln w="12700">
            <a:solidFill>
              <a:srgbClr val="D8DE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4023360"/>
            <a:ext cx="31089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~1.3% of revenue sits under "Unknown" city — a data-collection gap worth closing at the source.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TIME-SERIES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Sales Dip Every Autumn, Then Recover Sharply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828800"/>
          <a:ext cx="10881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F4F6FC"/>
          </a:solidFill>
        </p:spPr>
      </p:sp>
      <p:sp>
        <p:nvSpPr>
          <p:cNvPr id="6" name="Text 3"/>
          <p:cNvSpPr/>
          <p:nvPr/>
        </p:nvSpPr>
        <p:spPr>
          <a:xfrm>
            <a:off x="868680" y="5577840"/>
            <a:ext cx="104241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Peak: </a:t>
            </a: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March (₹1.31 Cr)   </a:t>
            </a:r>
            <a:r>
              <a:rPr lang="en-US" sz="1300" b="1" dirty="0">
                <a:solidFill>
                  <a:srgbClr val="C0455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Trough: </a:t>
            </a: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August–September (₹94–92 L)   </a:t>
            </a:r>
            <a:r>
              <a:rPr lang="en-US" sz="1300" b="1" dirty="0">
                <a:solidFill>
                  <a:srgbClr val="2E9E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Recovery: </a:t>
            </a: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rebound from October through year-end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3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KPIs Power the Interactive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in Microsoft Power BI across four pages — Executive Overview, Customer Segmentation, Product Analysis and Geographic Analysis — with a month slicer for interactive filtering.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048256" cy="3566160"/>
          </a:xfrm>
          <a:prstGeom prst="roundRect">
            <a:avLst>
              <a:gd name="adj" fmla="val 4018"/>
            </a:avLst>
          </a:prstGeom>
          <a:solidFill>
            <a:srgbClr val="F4F6FC"/>
          </a:solidFill>
        </p:spPr>
      </p:sp>
      <p:sp>
        <p:nvSpPr>
          <p:cNvPr id="6" name="Shape 4"/>
          <p:cNvSpPr/>
          <p:nvPr/>
        </p:nvSpPr>
        <p:spPr>
          <a:xfrm>
            <a:off x="640080" y="2377440"/>
            <a:ext cx="2048256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786384" y="2651760"/>
            <a:ext cx="17556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" y="3383280"/>
            <a:ext cx="175564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₹13,93,99,439.65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4526280"/>
            <a:ext cx="175564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Executive-level revenue summary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16352" y="2377440"/>
            <a:ext cx="2048256" cy="3566160"/>
          </a:xfrm>
          <a:prstGeom prst="roundRect">
            <a:avLst>
              <a:gd name="adj" fmla="val 4018"/>
            </a:avLst>
          </a:prstGeom>
          <a:solidFill>
            <a:srgbClr val="F4F6FC"/>
          </a:solidFill>
        </p:spPr>
      </p:sp>
      <p:sp>
        <p:nvSpPr>
          <p:cNvPr id="11" name="Shape 9"/>
          <p:cNvSpPr/>
          <p:nvPr/>
        </p:nvSpPr>
        <p:spPr>
          <a:xfrm>
            <a:off x="2816352" y="2377440"/>
            <a:ext cx="2048256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2962656" y="2651760"/>
            <a:ext cx="17556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62656" y="3383280"/>
            <a:ext cx="175564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992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62656" y="4526280"/>
            <a:ext cx="175564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volume handled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92624" y="2377440"/>
            <a:ext cx="2048256" cy="3566160"/>
          </a:xfrm>
          <a:prstGeom prst="roundRect">
            <a:avLst>
              <a:gd name="adj" fmla="val 4018"/>
            </a:avLst>
          </a:prstGeom>
          <a:solidFill>
            <a:srgbClr val="F4F6FC"/>
          </a:solidFill>
        </p:spPr>
      </p:sp>
      <p:sp>
        <p:nvSpPr>
          <p:cNvPr id="16" name="Shape 14"/>
          <p:cNvSpPr/>
          <p:nvPr/>
        </p:nvSpPr>
        <p:spPr>
          <a:xfrm>
            <a:off x="4992624" y="2377440"/>
            <a:ext cx="2048256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17" name="Text 15"/>
          <p:cNvSpPr/>
          <p:nvPr/>
        </p:nvSpPr>
        <p:spPr>
          <a:xfrm>
            <a:off x="5138928" y="2651760"/>
            <a:ext cx="17556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ORDER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38928" y="3383280"/>
            <a:ext cx="175564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₹1,40,523.63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138928" y="4526280"/>
            <a:ext cx="175564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generated per order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68896" y="2377440"/>
            <a:ext cx="2048256" cy="3566160"/>
          </a:xfrm>
          <a:prstGeom prst="roundRect">
            <a:avLst>
              <a:gd name="adj" fmla="val 4018"/>
            </a:avLst>
          </a:prstGeom>
          <a:solidFill>
            <a:srgbClr val="F4F6FC"/>
          </a:solidFill>
        </p:spPr>
      </p:sp>
      <p:sp>
        <p:nvSpPr>
          <p:cNvPr id="21" name="Shape 19"/>
          <p:cNvSpPr/>
          <p:nvPr/>
        </p:nvSpPr>
        <p:spPr>
          <a:xfrm>
            <a:off x="7168896" y="2377440"/>
            <a:ext cx="2048256" cy="7315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7315200" y="2651760"/>
            <a:ext cx="17556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SALES / CUSTOMER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3383280"/>
            <a:ext cx="175564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₹1,47,201.10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315200" y="4526280"/>
            <a:ext cx="175564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Revenue generated per customer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45168" y="2377440"/>
            <a:ext cx="2048256" cy="3566160"/>
          </a:xfrm>
          <a:prstGeom prst="roundRect">
            <a:avLst>
              <a:gd name="adj" fmla="val 4018"/>
            </a:avLst>
          </a:prstGeom>
          <a:solidFill>
            <a:srgbClr val="F4F6FC"/>
          </a:solidFill>
        </p:spPr>
      </p:sp>
      <p:sp>
        <p:nvSpPr>
          <p:cNvPr id="26" name="Shape 24"/>
          <p:cNvSpPr/>
          <p:nvPr/>
        </p:nvSpPr>
        <p:spPr>
          <a:xfrm>
            <a:off x="9345168" y="2377440"/>
            <a:ext cx="2048256" cy="73152"/>
          </a:xfrm>
          <a:prstGeom prst="rect">
            <a:avLst/>
          </a:prstGeom>
          <a:solidFill>
            <a:srgbClr val="C0455B"/>
          </a:solidFill>
        </p:spPr>
      </p:sp>
      <p:sp>
        <p:nvSpPr>
          <p:cNvPr id="27" name="Text 25"/>
          <p:cNvSpPr/>
          <p:nvPr/>
        </p:nvSpPr>
        <p:spPr>
          <a:xfrm>
            <a:off x="9491472" y="2651760"/>
            <a:ext cx="1755648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PURCHASE RATE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91472" y="3383280"/>
            <a:ext cx="175564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0455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5.49%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491472" y="4526280"/>
            <a:ext cx="1755648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who returned to buy again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Repeat Purchase Rate of just 5.49% signals that most customers are one-time buyers — a priority area for retention strategy.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 the Gender Sales Gap Real — or Just Noise?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showed male customers generating slightly higher total sales than female customers. Before this shapes any marketing decision, we validate it with an Independent Two-Sample T-Test.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71800"/>
            <a:ext cx="4709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H₀ — NULL HYPOTHESIS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4709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statistically significant difference in average sales between male and female customers.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69748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141B49"/>
          </a:solidFill>
          <a:ln w="12700">
            <a:solidFill>
              <a:srgbClr val="323B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971800"/>
            <a:ext cx="4709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H₁ — ALTERNATIVE HYPOTHESIS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3474720"/>
            <a:ext cx="470916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a statistically significant difference in average sales between male and female customers.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used:  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Independent Two-Sample T-Test (Welch's, unequal variance)     </a:t>
            </a:r>
            <a:r>
              <a:rPr lang="en-US" sz="1300" b="1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Significance level (α):  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Result: Fail to Reject H₀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777240" y="2011680"/>
            <a:ext cx="2240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511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Male Customers (n)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</p:spPr>
      </p:sp>
      <p:sp>
        <p:nvSpPr>
          <p:cNvPr id="8" name="Text 6"/>
          <p:cNvSpPr/>
          <p:nvPr/>
        </p:nvSpPr>
        <p:spPr>
          <a:xfrm>
            <a:off x="3474720" y="2011680"/>
            <a:ext cx="2240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Female Customers (n)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6172200" y="2011680"/>
            <a:ext cx="2240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0.6826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72200" y="2880360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T-Statistic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732520" y="182880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C"/>
          </a:solidFill>
        </p:spPr>
      </p:sp>
      <p:sp>
        <p:nvSpPr>
          <p:cNvPr id="14" name="Text 12"/>
          <p:cNvSpPr/>
          <p:nvPr/>
        </p:nvSpPr>
        <p:spPr>
          <a:xfrm>
            <a:off x="8869680" y="2011680"/>
            <a:ext cx="2240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0.4950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880360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P-Value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9F5EF"/>
          </a:solidFill>
          <a:ln w="15875">
            <a:solidFill>
              <a:srgbClr val="2E9E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94760"/>
            <a:ext cx="640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3794760"/>
            <a:ext cx="9692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P-value (0.4950) &gt; α (0.05)  →  </a:t>
            </a:r>
            <a:r>
              <a:rPr lang="en-US" sz="1650" b="1" dirty="0">
                <a:solidFill>
                  <a:srgbClr val="2E9E6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to reject the Null Hypothesis (H₀)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INTERPRETATION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108813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observed sales gap between male and female customers is not statistically significant — it's within the range of random variation, not a real behavioural difference. Gender alone is not a reliable factor for targeting; marketing should instead lean on category, age group, city and seasonal signals validated earlier in this deck.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841248" y="198424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6" name="Text 4"/>
          <p:cNvSpPr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249631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Double down on Electronics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99008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Prioritize inventory and promotions — it drives 2x the revenue of any other category.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10" name="Shape 8"/>
          <p:cNvSpPr/>
          <p:nvPr/>
        </p:nvSpPr>
        <p:spPr>
          <a:xfrm>
            <a:off x="4544568" y="198424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1" name="Text 9"/>
          <p:cNvSpPr/>
          <p:nvPr/>
        </p:nvSpPr>
        <p:spPr>
          <a:xfrm>
            <a:off x="4544568" y="198424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44568" y="249631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26–45 age segment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4568" y="299008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revenue-driving demographic; design campaigns and offers around this group, not gender.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15" name="Shape 13"/>
          <p:cNvSpPr/>
          <p:nvPr/>
        </p:nvSpPr>
        <p:spPr>
          <a:xfrm>
            <a:off x="8247888" y="198424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16" name="Text 14"/>
          <p:cNvSpPr/>
          <p:nvPr/>
        </p:nvSpPr>
        <p:spPr>
          <a:xfrm>
            <a:off x="8247888" y="198424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47888" y="249631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the September slump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47888" y="299008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Investigate the Aug–Sep dip and plan promotions ahead of it; sustain the Oct–Dec rebound.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20" name="Shape 18"/>
          <p:cNvSpPr/>
          <p:nvPr/>
        </p:nvSpPr>
        <p:spPr>
          <a:xfrm>
            <a:off x="841248" y="431596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1" name="Text 19"/>
          <p:cNvSpPr/>
          <p:nvPr/>
        </p:nvSpPr>
        <p:spPr>
          <a:xfrm>
            <a:off x="841248" y="43159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482803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Invest in retention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32180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5.49% repeat-purchase rate is low — build loyalty programs to convert one-time buyers.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4544568" y="431596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26" name="Text 24"/>
          <p:cNvSpPr/>
          <p:nvPr/>
        </p:nvSpPr>
        <p:spPr>
          <a:xfrm>
            <a:off x="4544568" y="43159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44568" y="482803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Laptop &amp; Mobile strategy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44568" y="532180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Laptop drives revenue, Mobile drives volume — plan inventory for both, not just top-line revenue.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41148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6FC"/>
          </a:solidFill>
        </p:spPr>
      </p:sp>
      <p:sp>
        <p:nvSpPr>
          <p:cNvPr id="30" name="Shape 28"/>
          <p:cNvSpPr/>
          <p:nvPr/>
        </p:nvSpPr>
        <p:spPr>
          <a:xfrm>
            <a:off x="8247888" y="4315968"/>
            <a:ext cx="384048" cy="384048"/>
          </a:xfrm>
          <a:prstGeom prst="ellipse">
            <a:avLst/>
          </a:prstGeom>
          <a:solidFill>
            <a:srgbClr val="E8A33D"/>
          </a:solidFill>
        </p:spPr>
      </p:sp>
      <p:sp>
        <p:nvSpPr>
          <p:cNvPr id="31" name="Text 29"/>
          <p:cNvSpPr/>
          <p:nvPr/>
        </p:nvSpPr>
        <p:spPr>
          <a:xfrm>
            <a:off x="8247888" y="431596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47888" y="4828032"/>
            <a:ext cx="3118104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before deciding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47888" y="5321808"/>
            <a:ext cx="3118104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2227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Continue statistical testing on new patterns before they shape marketing spend — as done here.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ApexPlanet Software Pvt. Ltd. | Data Analytics Internship — Task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96012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Raw Transactions to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Evidence-Based Decisions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four tasks, this project moved from cleaning a raw retail dataset to an interactive KPI dashboard to a statistically validated business narrative — showing how analytics, when tested rather than assumed, supports confident business decisions.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54880"/>
            <a:ext cx="5486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394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Sunita Satpathy  ·  ApexPlanet Software Pvt. Ltd. Data Analytics Internship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7179</Words>
  <Application>WPS Presentation</Application>
  <PresentationFormat>On-screen Show (16:9)</PresentationFormat>
  <Paragraphs>330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Sunita Satpathy</cp:lastModifiedBy>
  <cp:revision>2</cp:revision>
  <dcterms:created xsi:type="dcterms:W3CDTF">2026-07-27T07:03:00Z</dcterms:created>
  <dcterms:modified xsi:type="dcterms:W3CDTF">2026-07-27T07:09:52Z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9875E7E6811A4E1BB4FA4518755B96A2_12</vt:lpwstr>
  </property>
  <property fmtid="{D5CDD505-2E9C-101B-9397-08002B2CF9AE}" pid="3" name="KSOProductBuildVer">
    <vt:lpwstr>1033-12.1.0.27458</vt:lpwstr>
  </property>
</Properties>
</file>